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71" r:id="rId11"/>
    <p:sldId id="272" r:id="rId12"/>
    <p:sldId id="275" r:id="rId13"/>
    <p:sldId id="274" r:id="rId14"/>
    <p:sldId id="273" r:id="rId15"/>
    <p:sldId id="270" r:id="rId16"/>
    <p:sldId id="269" r:id="rId17"/>
    <p:sldId id="264" r:id="rId18"/>
    <p:sldId id="265" r:id="rId19"/>
    <p:sldId id="266" r:id="rId20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4c21167c668e52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4c21167c668e52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746-022-00730-6" TargetMode="External"/><Relationship Id="rId2" Type="http://schemas.openxmlformats.org/officeDocument/2006/relationships/hyperlink" Target="https://arxiv.org/abs/1904.0534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4878278/" TargetMode="External"/><Relationship Id="rId5" Type="http://schemas.openxmlformats.org/officeDocument/2006/relationships/hyperlink" Target="https://www.snomed.org/" TargetMode="External"/><Relationship Id="rId4" Type="http://schemas.openxmlformats.org/officeDocument/2006/relationships/hyperlink" Target="https://pmc.ncbi.nlm.nih.gov/articles/PMC3540429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905701" y="2845525"/>
            <a:ext cx="7880400" cy="8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MediTrack: An Intelligent Patient Health Monitoring and Symptom Analysis System using NLP and ML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371600" y="1375704"/>
            <a:ext cx="67404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School of Computer Science and Engineering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3225" y="4945200"/>
            <a:ext cx="30000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Saumya Tandon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50987" y="5687992"/>
            <a:ext cx="30000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 No.: 2427030368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5786106" y="4945204"/>
            <a:ext cx="30000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Supervised By: Mr. Abhay Singh Bisht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05701" cy="107119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905700" y="0"/>
            <a:ext cx="3000000" cy="1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MANIPAL</a:t>
            </a:r>
            <a:endParaRPr sz="3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UNIVERSITY</a:t>
            </a:r>
            <a:endParaRPr sz="3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457200" y="1736317"/>
            <a:ext cx="8229600" cy="4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Introduction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Literature Review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Problem Statement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Proposed Solution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Objectives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References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457200" y="116601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dirty="0"/>
              <a:t>Modern healthcare faces challenges in continuous patient monitoring and accurate symptom reporting.</a:t>
            </a:r>
            <a:endParaRPr sz="3000" dirty="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dirty="0"/>
              <a:t>Patients struggle to describe symptoms clearly, while doctors face fragmented historical data.</a:t>
            </a:r>
            <a:endParaRPr sz="3000" dirty="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dirty="0"/>
              <a:t>Manual tracking is inefficient and lacks intelligent trend analysis.</a:t>
            </a:r>
            <a:endParaRPr sz="3000" dirty="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dirty="0" err="1"/>
              <a:t>MediTrack</a:t>
            </a:r>
            <a:r>
              <a:rPr lang="en-US" sz="3000" dirty="0"/>
              <a:t> leverages NLP and ML to understand patient symptoms and predict health risks.</a:t>
            </a:r>
            <a:endParaRPr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(continued)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MediTrack bridges communication gaps between patients and healthcare providers.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Understands natural language symptom descriptions.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Learns health patterns to predict risks and trends.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Provides real-time insights via a dashboard.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Impact: Preventive healthcare through explainable AI.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57200" y="362389"/>
            <a:ext cx="82296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000" dirty="0"/>
              <a:t> </a:t>
            </a:r>
            <a:endParaRPr sz="30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000" dirty="0"/>
              <a:t>  </a:t>
            </a:r>
            <a:endParaRPr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27FF39-6D81-D2D9-F4C7-D4F154FCE747}"/>
              </a:ext>
            </a:extLst>
          </p:cNvPr>
          <p:cNvSpPr txBox="1"/>
          <p:nvPr/>
        </p:nvSpPr>
        <p:spPr>
          <a:xfrm>
            <a:off x="757084" y="1505389"/>
            <a:ext cx="6228735" cy="451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buClr>
                <a:schemeClr val="dk1"/>
              </a:buClr>
              <a:buSzPts val="3000"/>
            </a:pPr>
            <a:r>
              <a:rPr lang="en-US" sz="2400" b="1" dirty="0"/>
              <a:t>     </a:t>
            </a:r>
            <a:r>
              <a:rPr lang="en-US" sz="2400" b="1" u="sng" dirty="0"/>
              <a:t>Existing Symptom Checkers:</a:t>
            </a: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2400" b="1" dirty="0"/>
              <a:t>WebMD:</a:t>
            </a:r>
            <a:r>
              <a:rPr lang="en-US" sz="2400" dirty="0"/>
              <a:t> Rule-based, limited personalization.</a:t>
            </a: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2400" b="1" dirty="0"/>
              <a:t>Ada Health:</a:t>
            </a:r>
            <a:r>
              <a:rPr lang="en-US" sz="2400" dirty="0"/>
              <a:t> Context-aware but lacks historical learning.</a:t>
            </a: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2400" b="1" dirty="0"/>
              <a:t>Gap:</a:t>
            </a:r>
            <a:r>
              <a:rPr lang="en-US" sz="2400" dirty="0"/>
              <a:t> No systems adapt to individual longitudinal data.</a:t>
            </a: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endParaRPr lang="en-US" sz="2400" dirty="0"/>
          </a:p>
          <a:p>
            <a:pPr marL="3429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b="1" u="sng" dirty="0"/>
              <a:t>Patient History Systems:</a:t>
            </a: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2400" dirty="0"/>
              <a:t>EHRs store data but lack predictive analysis.</a:t>
            </a: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2400" dirty="0"/>
              <a:t>Traditional ML models are disease-specific and non-adaptive.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Review (continued)</a:t>
            </a: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57200" y="1599626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NLP in Medical Domain: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ClinicalBERT enables contextual medical understanding.</a:t>
            </a:r>
            <a:endParaRPr sz="3000"/>
          </a:p>
          <a:p>
            <a:pPr marL="3429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NER extracts symptoms and entities.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b="1"/>
              <a:t>Challenge: </a:t>
            </a:r>
            <a:r>
              <a:rPr lang="en-US" sz="3000"/>
              <a:t>Translating layman terms to medical terminology.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b="1"/>
              <a:t>Contribution:</a:t>
            </a:r>
            <a:r>
              <a:rPr lang="en-US" sz="3000"/>
              <a:t> Integrates NLP and ML for personalized trend prediction.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Patients and healthcare providers lack an integrated system that can understand natural language symptom descriptions while learning from patient history to provide personalized health insights and early risk detection.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b="1"/>
              <a:t>Step 1: Data Collection</a:t>
            </a:r>
            <a:r>
              <a:rPr lang="en-US" sz="3000"/>
              <a:t> – Gather symptom and history data.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b="1"/>
              <a:t>Step 2: NLP Module</a:t>
            </a:r>
            <a:r>
              <a:rPr lang="en-US" sz="3000"/>
              <a:t> – Extract and classify symptoms (spaCy/ClinicalBERT).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b="1"/>
              <a:t>Step 3: ML Module</a:t>
            </a:r>
            <a:r>
              <a:rPr lang="en-US" sz="3000"/>
              <a:t> – Predict trends and risks.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b="1"/>
              <a:t>Step 4: Output Layer</a:t>
            </a:r>
            <a:r>
              <a:rPr lang="en-US" sz="3000"/>
              <a:t> – Dashboards with insights and alerts.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b="1"/>
              <a:t>Step 5: Continuous Learning</a:t>
            </a:r>
            <a:r>
              <a:rPr lang="en-US" sz="3000"/>
              <a:t> – Refine using feedback.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0C2B-7617-6F4B-F67E-82284F3A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Prototype Design &amp; Planned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018E6-AC47-4BFB-A012-ECE14498EAD2}"/>
              </a:ext>
            </a:extLst>
          </p:cNvPr>
          <p:cNvSpPr txBox="1"/>
          <p:nvPr/>
        </p:nvSpPr>
        <p:spPr>
          <a:xfrm>
            <a:off x="560438" y="2114893"/>
            <a:ext cx="78166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Prototype Design (Current Phase):</a:t>
            </a:r>
          </a:p>
          <a:p>
            <a:r>
              <a:rPr lang="en-IN" sz="2000" dirty="0"/>
              <a:t>• Conceptual system architecture finalized</a:t>
            </a:r>
          </a:p>
          <a:p>
            <a:r>
              <a:rPr lang="en-IN" sz="2000" dirty="0"/>
              <a:t>• Data flow between NLP, ML, and database defined</a:t>
            </a:r>
          </a:p>
          <a:p>
            <a:r>
              <a:rPr lang="en-IN" sz="2000" dirty="0"/>
              <a:t>• Patient symptom input → analysis → insight pipeline planned</a:t>
            </a:r>
          </a:p>
          <a:p>
            <a:r>
              <a:rPr lang="en-IN" sz="2000" dirty="0"/>
              <a:t>• Longitudinal patient history storage designed</a:t>
            </a:r>
          </a:p>
          <a:p>
            <a:r>
              <a:rPr lang="en-IN" sz="2000" dirty="0"/>
              <a:t>• Dashboard interaction flow conceptualized</a:t>
            </a:r>
          </a:p>
          <a:p>
            <a:endParaRPr lang="en-IN" sz="2000" dirty="0"/>
          </a:p>
          <a:p>
            <a:r>
              <a:rPr lang="en-IN" sz="2000" dirty="0"/>
              <a:t>Planned Implementation:</a:t>
            </a:r>
          </a:p>
          <a:p>
            <a:r>
              <a:rPr lang="en-IN" sz="2000" dirty="0"/>
              <a:t>• NLP using </a:t>
            </a:r>
            <a:r>
              <a:rPr lang="en-IN" sz="2000" dirty="0" err="1"/>
              <a:t>spaCy</a:t>
            </a:r>
            <a:r>
              <a:rPr lang="en-IN" sz="2000" dirty="0"/>
              <a:t> and </a:t>
            </a:r>
            <a:r>
              <a:rPr lang="en-IN" sz="2000" dirty="0" err="1"/>
              <a:t>ClinicalBERT</a:t>
            </a:r>
            <a:endParaRPr lang="en-IN" sz="2000" dirty="0"/>
          </a:p>
          <a:p>
            <a:r>
              <a:rPr lang="en-IN" sz="2000" dirty="0"/>
              <a:t>• ML models for health trend and risk analysis</a:t>
            </a:r>
          </a:p>
          <a:p>
            <a:r>
              <a:rPr lang="en-IN" sz="2000" dirty="0"/>
              <a:t>• Backend APIs using </a:t>
            </a:r>
            <a:r>
              <a:rPr lang="en-IN" sz="2000" dirty="0" err="1"/>
              <a:t>FastAPI</a:t>
            </a:r>
            <a:endParaRPr lang="en-IN" sz="2000" dirty="0"/>
          </a:p>
          <a:p>
            <a:r>
              <a:rPr lang="en-IN" sz="2000" dirty="0"/>
              <a:t>• Web-based dashboard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94815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A6D955-8164-9456-C369-49C092BD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Current Implementation (Prototype)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BD46A-C562-30CA-2356-2F922CEB2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• Implemented a Machine Learning model using Logistic Regression  </a:t>
            </a:r>
          </a:p>
          <a:p>
            <a:pPr marL="0" indent="0">
              <a:buNone/>
            </a:pPr>
            <a:r>
              <a:rPr lang="en-US" dirty="0"/>
              <a:t>• Dataset: Symptom-based structured dataset  </a:t>
            </a:r>
          </a:p>
          <a:p>
            <a:pPr marL="0" indent="0">
              <a:buNone/>
            </a:pPr>
            <a:r>
              <a:rPr lang="en-US" dirty="0"/>
              <a:t>• Symptoms converted into binary feature representation  </a:t>
            </a:r>
          </a:p>
          <a:p>
            <a:pPr marL="0" indent="0">
              <a:buNone/>
            </a:pPr>
            <a:r>
              <a:rPr lang="en-US" dirty="0"/>
              <a:t>• Train-test split used (70% training, 30% testing)  </a:t>
            </a:r>
          </a:p>
          <a:p>
            <a:pPr marL="0" indent="0">
              <a:buNone/>
            </a:pPr>
            <a:r>
              <a:rPr lang="en-US" dirty="0"/>
              <a:t>• Model trained using Scikit-learn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This forms the core prediction engine of the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376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9FC0-D687-C57E-65CC-7750A64D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7D38-CCA1-36CA-EE91-66CA28F82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1. Load dataset (data.csv)  </a:t>
            </a:r>
          </a:p>
          <a:p>
            <a:pPr marL="0" indent="0">
              <a:buNone/>
            </a:pPr>
            <a:r>
              <a:rPr lang="en-IN" dirty="0"/>
              <a:t>2. Data preprocessing (handle missing values)  </a:t>
            </a:r>
          </a:p>
          <a:p>
            <a:pPr marL="0" indent="0">
              <a:buNone/>
            </a:pPr>
            <a:r>
              <a:rPr lang="en-IN" dirty="0"/>
              <a:t>3. Feature extraction (symptoms → numerical format)  </a:t>
            </a:r>
          </a:p>
          <a:p>
            <a:pPr marL="0" indent="0">
              <a:buNone/>
            </a:pPr>
            <a:r>
              <a:rPr lang="en-IN" dirty="0"/>
              <a:t>4. Train-test split  </a:t>
            </a:r>
          </a:p>
          <a:p>
            <a:pPr marL="0" indent="0">
              <a:buNone/>
            </a:pPr>
            <a:r>
              <a:rPr lang="en-IN" dirty="0"/>
              <a:t>5. Train Logistic Regression model  </a:t>
            </a:r>
          </a:p>
          <a:p>
            <a:pPr marL="0" indent="0">
              <a:buNone/>
            </a:pPr>
            <a:r>
              <a:rPr lang="en-IN" dirty="0"/>
              <a:t>6. Make predictions  </a:t>
            </a:r>
          </a:p>
          <a:p>
            <a:pPr marL="0" indent="0">
              <a:buNone/>
            </a:pPr>
            <a:r>
              <a:rPr lang="en-IN" dirty="0"/>
              <a:t>7. Evaluate using:</a:t>
            </a:r>
          </a:p>
          <a:p>
            <a:pPr marL="0" indent="0">
              <a:buNone/>
            </a:pPr>
            <a:r>
              <a:rPr lang="en-IN" dirty="0"/>
              <a:t>   • Accuracy</a:t>
            </a:r>
          </a:p>
          <a:p>
            <a:pPr marL="0" indent="0">
              <a:buNone/>
            </a:pPr>
            <a:r>
              <a:rPr lang="en-IN" dirty="0"/>
              <a:t>   •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905255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A394-DC38-A3AF-6601-A5BDE178C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86445-9444-1AAE-64C0-0F30F05F0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91380"/>
            <a:ext cx="9144000" cy="576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06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24D2-8624-6CB2-4573-6D348607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DEE3-3E7C-ACE0-C317-E2101F777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• Python  </a:t>
            </a:r>
          </a:p>
          <a:p>
            <a:pPr marL="0" indent="0">
              <a:buNone/>
            </a:pPr>
            <a:r>
              <a:rPr lang="en-IN" dirty="0"/>
              <a:t>• Pandas  </a:t>
            </a:r>
          </a:p>
          <a:p>
            <a:pPr marL="0" indent="0">
              <a:buNone/>
            </a:pPr>
            <a:r>
              <a:rPr lang="en-IN" dirty="0"/>
              <a:t>• Scikit-learn  </a:t>
            </a:r>
          </a:p>
          <a:p>
            <a:pPr marL="0" indent="0">
              <a:buNone/>
            </a:pPr>
            <a:r>
              <a:rPr lang="en-IN" dirty="0"/>
              <a:t>• Matplotlib / Seaborn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• NLP (Future Work):</a:t>
            </a:r>
          </a:p>
          <a:p>
            <a:pPr marL="0" indent="0">
              <a:buNone/>
            </a:pPr>
            <a:r>
              <a:rPr lang="en-IN" dirty="0"/>
              <a:t>   • </a:t>
            </a:r>
            <a:r>
              <a:rPr lang="en-IN" dirty="0" err="1"/>
              <a:t>spaCy</a:t>
            </a:r>
            <a:r>
              <a:rPr lang="en-IN" dirty="0"/>
              <a:t>  </a:t>
            </a:r>
          </a:p>
          <a:p>
            <a:pPr marL="0" indent="0">
              <a:buNone/>
            </a:pPr>
            <a:r>
              <a:rPr lang="en-IN" dirty="0"/>
              <a:t>   • </a:t>
            </a:r>
            <a:r>
              <a:rPr lang="en-IN" dirty="0" err="1"/>
              <a:t>ClinicalBERT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535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2DAE-72B0-EC50-8862-337322767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866AD-D5E8-0A2A-BDE2-06540976D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• Model Accuracy: ~62%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Confusion Matrix used for performance evaluation  </a:t>
            </a:r>
          </a:p>
          <a:p>
            <a:pPr marL="0" indent="0">
              <a:buNone/>
            </a:pPr>
            <a:r>
              <a:rPr lang="en-US" dirty="0"/>
              <a:t>• Shows actual vs predicted classifications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Model performs reasonably well for prototype-level implementation  </a:t>
            </a:r>
          </a:p>
          <a:p>
            <a:pPr marL="0" indent="0">
              <a:buNone/>
            </a:pPr>
            <a:r>
              <a:rPr lang="en-US" dirty="0"/>
              <a:t>• Can be improved with larger dataset and advanced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79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F54A-38F8-682E-D009-FFCAE2316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F59F-5979-BF29-DD9E-08FE4D74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Proposed System Architecture : Input and 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72400-428E-B820-EA83-8FEF3085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951"/>
          <a:stretch>
            <a:fillRect/>
          </a:stretch>
        </p:blipFill>
        <p:spPr>
          <a:xfrm>
            <a:off x="0" y="2008239"/>
            <a:ext cx="9144000" cy="364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3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98C2-1EAC-8475-7AB4-C2BCEE63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A84F-16FA-A7FC-897D-055E6D788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Proposed System Architecture: Analysis and Storage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147887-C85F-60B5-46A3-3185C0A2F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901"/>
          <a:stretch>
            <a:fillRect/>
          </a:stretch>
        </p:blipFill>
        <p:spPr>
          <a:xfrm>
            <a:off x="0" y="2045110"/>
            <a:ext cx="9144000" cy="371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19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Develop an NLP pipeline for symptom understanding.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Build ML models to detect anomalies and predict health risks.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Correlate real-time and historical data for personalized insights.</a:t>
            </a:r>
            <a:endParaRPr sz="3000"/>
          </a:p>
          <a:p>
            <a:pPr marL="342900" lvl="0" indent="-4191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Design dashboards for patients and healthcare providers.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64" name="Google Shape;64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/>
              <a:t>1. ClinicalBERT: Modeling Clinical Notes and Predicting Hospital Readmission - Huang et al. 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 u="sng">
                <a:solidFill>
                  <a:schemeClr val="hlink"/>
                </a:solidFill>
                <a:hlinkClick r:id="rId2"/>
              </a:rPr>
              <a:t>https://arxiv.org/abs/1904.05342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/>
              <a:t>2. A Review of NLP in Medical Applications – Journal of Biomedical Informatics.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 u="sng">
                <a:solidFill>
                  <a:schemeClr val="hlink"/>
                </a:solidFill>
                <a:hlinkClick r:id="rId3"/>
              </a:rPr>
              <a:t>https://www.nature.com/articles/s41746-022-00730-6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/>
              <a:t>3. Machine Learning for Patient Risk Stratification – Nature Medicine.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 u="sng">
                <a:solidFill>
                  <a:schemeClr val="hlink"/>
                </a:solidFill>
                <a:hlinkClick r:id="rId4"/>
              </a:rPr>
              <a:t>https://pmc.ncbi.nlm.nih.gov/articles/PMC3540429/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/>
              <a:t>4. SNOMED CT Terminology Standards.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 u="sng">
                <a:solidFill>
                  <a:schemeClr val="hlink"/>
                </a:solidFill>
                <a:hlinkClick r:id="rId5"/>
              </a:rPr>
              <a:t>https://www.snomed.org/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/>
              <a:t>5. MIMIC-III Clinical Database Papers.</a:t>
            </a:r>
            <a:endParaRPr sz="3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000" u="sng">
                <a:solidFill>
                  <a:schemeClr val="hlink"/>
                </a:solidFill>
                <a:hlinkClick r:id="rId6"/>
              </a:rPr>
              <a:t>https://pmc.ncbi.nlm.nih.gov/articles/PMC4878278/</a:t>
            </a:r>
            <a:endParaRPr sz="3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457200" y="285751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768</Words>
  <Application>Microsoft Office PowerPoint</Application>
  <PresentationFormat>On-screen Show (4:3)</PresentationFormat>
  <Paragraphs>133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EB Garamond</vt:lpstr>
      <vt:lpstr>Office Theme</vt:lpstr>
      <vt:lpstr>PowerPoint Presentation</vt:lpstr>
      <vt:lpstr>Outline</vt:lpstr>
      <vt:lpstr>Introduction</vt:lpstr>
      <vt:lpstr>Introduction (continued)</vt:lpstr>
      <vt:lpstr>Literature Review</vt:lpstr>
      <vt:lpstr>Literature Review (continued)</vt:lpstr>
      <vt:lpstr>Problem Statement</vt:lpstr>
      <vt:lpstr>Proposed Solution</vt:lpstr>
      <vt:lpstr>Prototype Design &amp; Planned Implementation</vt:lpstr>
      <vt:lpstr>Current Implementation (Prototype)</vt:lpstr>
      <vt:lpstr>Machine Learning Pipeline</vt:lpstr>
      <vt:lpstr>CONFUSION MATRIX</vt:lpstr>
      <vt:lpstr>Technologies Used</vt:lpstr>
      <vt:lpstr>Results</vt:lpstr>
      <vt:lpstr>Proposed System Architecture : Input and Processing</vt:lpstr>
      <vt:lpstr>Proposed System Architecture: Analysis and Storage</vt:lpstr>
      <vt:lpstr>Objectives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Saumya Tandon</cp:lastModifiedBy>
  <cp:revision>7</cp:revision>
  <dcterms:modified xsi:type="dcterms:W3CDTF">2026-04-10T17:02:01Z</dcterms:modified>
</cp:coreProperties>
</file>